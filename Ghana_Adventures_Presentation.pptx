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(GHS)</c:v>
                </c:pt>
              </c:strCache>
            </c:strRef>
          </c:tx>
          <c:spPr>
            <a:solidFill>
              <a:srgbClr val="2D9E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E7-4F48-98EA-8CE09C38ED46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E7-4F48-98EA-8CE09C38ED46}"/>
              </c:ext>
            </c:extLst>
          </c:dPt>
          <c:dPt>
            <c:idx val="2"/>
            <c:invertIfNegative val="0"/>
            <c:bubble3D val="0"/>
            <c:spPr>
              <a:solidFill>
                <a:srgbClr val="C89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E7-4F48-98EA-8CE09C38ED46}"/>
              </c:ext>
            </c:extLst>
          </c:dPt>
          <c:dPt>
            <c:idx val="3"/>
            <c:invertIfNegative val="0"/>
            <c:bubble3D val="0"/>
            <c:spPr>
              <a:solidFill>
                <a:srgbClr val="1A6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E7-4F48-98EA-8CE09C38ED46}"/>
              </c:ext>
            </c:extLst>
          </c:dPt>
          <c:dPt>
            <c:idx val="4"/>
            <c:invertIfNegative val="0"/>
            <c:bubble3D val="0"/>
            <c:spPr>
              <a:solidFill>
                <a:srgbClr val="1F6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E7-4F48-98EA-8CE09C38ED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Oct 2024</c:v>
                </c:pt>
                <c:pt idx="1">
                  <c:v>Nov 2024</c:v>
                </c:pt>
                <c:pt idx="2">
                  <c:v>Dec 2024</c:v>
                </c:pt>
                <c:pt idx="3">
                  <c:v>Jan 2025</c:v>
                </c:pt>
                <c:pt idx="4">
                  <c:v>Feb 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5950</c:v>
                </c:pt>
                <c:pt idx="1">
                  <c:v>4250</c:v>
                </c:pt>
                <c:pt idx="2">
                  <c:v>15100</c:v>
                </c:pt>
                <c:pt idx="3">
                  <c:v>17100</c:v>
                </c:pt>
                <c:pt idx="4">
                  <c:v>14100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FE7-4F48-98EA-8CE09C38ED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6B3C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1A6B3C"/>
                </a:solidFill>
                <a:latin typeface="Arial"/>
              </a:rPr>
              <a:t>New vs Repeat Customers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9E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46-43BB-80A0-D302A365B71B}"/>
              </c:ext>
            </c:extLst>
          </c:dPt>
          <c:dPt>
            <c:idx val="1"/>
            <c:bubble3D val="0"/>
            <c:spPr>
              <a:solidFill>
                <a:srgbClr val="C89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46-43BB-80A0-D302A365B71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46-43BB-80A0-D302A365B71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46-43BB-80A0-D302A365B71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New Customers</c:v>
                </c:pt>
                <c:pt idx="1">
                  <c:v>Repeat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46-43BB-80A0-D302A365B7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C2B1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6B3C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1A6B3C"/>
                </a:solidFill>
                <a:latin typeface="Arial"/>
              </a:rPr>
              <a:t>Revenue by Booking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(GHS)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50-4897-8EE0-CC73088FB9D9}"/>
              </c:ext>
            </c:extLst>
          </c:dPt>
          <c:dPt>
            <c:idx val="1"/>
            <c:invertIfNegative val="0"/>
            <c:bubble3D val="0"/>
            <c:spPr>
              <a:solidFill>
                <a:srgbClr val="2D9E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50-4897-8EE0-CC73088FB9D9}"/>
              </c:ext>
            </c:extLst>
          </c:dPt>
          <c:dPt>
            <c:idx val="2"/>
            <c:invertIfNegative val="0"/>
            <c:bubble3D val="0"/>
            <c:spPr>
              <a:solidFill>
                <a:srgbClr val="C89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50-4897-8EE0-CC73088FB9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 Tour</c:v>
                </c:pt>
                <c:pt idx="1">
                  <c:v>Group Tour</c:v>
                </c:pt>
                <c:pt idx="2">
                  <c:v>Individual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31700</c:v>
                </c:pt>
                <c:pt idx="1">
                  <c:v>23200</c:v>
                </c:pt>
                <c:pt idx="2">
                  <c:v>8750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50-4897-8EE0-CC73088FB9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175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D9E5F">
              <a:alpha val="30000"/>
            </a:srgbClr>
          </a:solidFill>
          <a:ln w="12700">
            <a:solidFill>
              <a:srgbClr val="2D9E5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C8962E">
              <a:alpha val="20000"/>
            </a:srgbClr>
          </a:solidFill>
          <a:ln w="12700">
            <a:solidFill>
              <a:srgbClr val="C8962E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🌍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GHANA ADVENTURES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Business Intelligence Pitch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0" y="2971800"/>
            <a:ext cx="3657600" cy="457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Ghana Adventures Operations 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3611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2024 – February 2025  |  91 Bookings  |  GHS 63,250 Revenue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Analyst – Group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94360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is Ghana Adventures facing today?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94360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83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Insights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booking and customer data reveals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594360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5603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Data-Driven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will solve these problems with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94360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33756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355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6118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to grow revenue and retention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594360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14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 Bring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3891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hiring a Data Analyst is the right investment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The Business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Bookings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revenue drops to GHS 4,250 vs December's GHS 15,100 — a 72% decline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Customer Retention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520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customers never return after their first booking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1148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Tours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packages generate under GHS 300 in total revenue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Strategy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data is being collected but not used to drive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Key Performance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21945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GHS 63,250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2024 – Feb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2011680" cy="219456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2011680" cy="219456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GHS 695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Booking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051560"/>
            <a:ext cx="2011680" cy="2194560"/>
          </a:xfrm>
          <a:prstGeom prst="rect">
            <a:avLst/>
          </a:prstGeom>
          <a:solidFill>
            <a:srgbClr val="1F6A8A"/>
          </a:solidFill>
          <a:ln w="12700">
            <a:solidFill>
              <a:srgbClr val="1F6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45.05%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Tour bookings generate GHS 31,700 — nearly 50% of all revenue. Safari packages at Mole National Park alone account for GHS 12,000. These are the star products that need to be expanded and promoted more aggressively.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Seasonal Revenue Analysis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852160" y="1508760"/>
            <a:ext cx="3017520" cy="68580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November is the WEAKEST month — only GHS 4,250 in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3017520" cy="68580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December–January is PEAK season — GHS 32,200 combined revenue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3154680"/>
            <a:ext cx="3017520" cy="68580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February stays strong driven by Valentine's tour packages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3977640"/>
            <a:ext cx="3017520" cy="68580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Peak season = 54.95% of all revenue vs Off-Peak 45.05%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Tour Package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Top Performers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502920"/>
          </a:xfrm>
          <a:prstGeom prst="rect">
            <a:avLst/>
          </a:prstGeom>
          <a:solidFill>
            <a:srgbClr val="C8962E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36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 Year Safari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5361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3,600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0" y="153619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F0F0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F0F0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bookings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14800" cy="50292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Safari Experience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1305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3,000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1305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bookings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14800" cy="50292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249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Volta River Cruise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2,550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72491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bookings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114800" cy="50292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319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Christmas Safari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3192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2,000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0440" y="33192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4114800" cy="50292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9136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Couples Safari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9136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1,800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9136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booking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Need Review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1463040"/>
            <a:ext cx="393192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Museum Tour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15087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200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Combine with city tour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240280"/>
            <a:ext cx="393192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Larabanga Mosque Tour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22860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200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Bundle with Northern tour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017520"/>
            <a:ext cx="393192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Aburi Gardens Retreat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3063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300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8348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Reposition as romance trip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794760"/>
            <a:ext cx="393192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Crocodile Visit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0" y="38404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350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8348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wildlife storytelling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Customer Behaviour Analysis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66108735"/>
              </p:ext>
            </p:extLst>
          </p:nvPr>
        </p:nvGraphicFramePr>
        <p:xfrm>
          <a:off x="365760" y="100584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00584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E8F5ED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41655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45% repeat rate is promising — but improving this to 60%+ could add GHS 15,000+ in annual revenue without acquiring a single new customer.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" cy="1737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Off-Season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'November Explorer Deals' with 20% discount. Target domestic travellers and schools. Goal: increase November revenue from GHS 4,250 to GHS 8,000+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26080"/>
            <a:ext cx="411480" cy="173736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0876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Retention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card programme + post-trip WhatsApp follow-ups + 10% returning customer discount. Goal: retention from 45% to 60%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11480" cy="173736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143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🦁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8932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Top Tours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second departure dates for New Year Safari and Volta River Cruise. Create premium 3-day Mole National Park package at GHS 2,500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1480" cy="1737360"/>
          </a:xfrm>
          <a:prstGeom prst="rect">
            <a:avLst/>
          </a:prstGeom>
          <a:solidFill>
            <a:srgbClr val="1F6A8A"/>
          </a:solidFill>
          <a:ln w="12700">
            <a:solidFill>
              <a:srgbClr val="1F6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063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8932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Digital Channels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Instagram/TikTok content creation. Improve website booking flow. Reduce reliance on Travel Agencies from 33% to 25%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Why Ghana Adventures Needs a Data Analyst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profit drivers and pricing opportunities to grow avg booking from GHS 695 to GHS 900+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77640" y="1161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who your best customers are and what brings them back — build loyalty that compounds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143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03720" y="1161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Decisions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data. Know which tours to expand, which to cut, and when to run promotions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17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51560" y="3035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competitors rely on instinct, Ghana Adventures will use data to stay one step ahead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017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977640" y="3035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611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gives management real-time visibility into bookings, revenue and customer trends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1E3A28"/>
          </a:solidFill>
          <a:ln w="12700">
            <a:solidFill>
              <a:srgbClr val="2D9E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017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03720" y="3035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wasting budget on broad campaigns — target the right customers with the right message at the right time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6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9E5F">
              <a:alpha val="25000"/>
            </a:srgbClr>
          </a:solidFill>
          <a:ln w="12700">
            <a:solidFill>
              <a:srgbClr val="2D9E5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8962E">
              <a:alpha val="20000"/>
            </a:srgbClr>
          </a:solidFill>
          <a:ln w="12700">
            <a:solidFill>
              <a:srgbClr val="C8962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7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🌍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a Data-Driven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for Ghana Adventures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GHS 63,250 revenue analysed across 91 bookings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1821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strategic recommendations ready to implement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5295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Power BI dashboard built and ready to deploy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8770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Data-driven growth plan targeting 30-40% revenue increase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 welcome your questions!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727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Ghana Adventures — Data Analysis Pitch</dc:title>
  <dc:subject>PptxGenJS Presentation</dc:subject>
  <dc:creator>PptxGenJS</dc:creator>
  <cp:lastModifiedBy>Lawrence Koomson</cp:lastModifiedBy>
  <cp:revision>3</cp:revision>
  <dcterms:created xsi:type="dcterms:W3CDTF">2026-03-26T11:56:46Z</dcterms:created>
  <dcterms:modified xsi:type="dcterms:W3CDTF">2026-03-26T13:16:30Z</dcterms:modified>
</cp:coreProperties>
</file>